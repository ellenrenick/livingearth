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Day 2: What is DNA made of?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600">
                <a:solidFill>
                  <a:srgbClr val="222222"/>
                </a:solidFill>
              </a:defRPr>
            </a:pPr>
            <a:r>
              <a:t>• Today's target: describe DNA as a double helix built from nucleotides (LS1-1.1)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66666"/>
                </a:solidFill>
              </a:defRPr>
            </a:pPr>
            <a:r>
              <a:t>Unit 2.1: DNA to Proteins  |  1 of 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Warm-up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600">
                <a:solidFill>
                  <a:srgbClr val="222222"/>
                </a:solidFill>
              </a:defRPr>
            </a:pPr>
            <a:r>
              <a:t>• Yesterday: a gene in the cat's cells holds instructions for a protein.</a:t>
            </a:r>
          </a:p>
          <a:p>
            <a:pPr>
              <a:spcAft>
                <a:spcPts val="1000"/>
              </a:spcAft>
              <a:defRPr sz="2600">
                <a:solidFill>
                  <a:srgbClr val="222222"/>
                </a:solidFill>
              </a:defRPr>
            </a:pPr>
            <a:r>
              <a:t>• Sketch what you think DNA looks like (1 minute).</a:t>
            </a:r>
          </a:p>
          <a:p>
            <a:pPr>
              <a:spcAft>
                <a:spcPts val="1000"/>
              </a:spcAft>
              <a:defRPr sz="2600">
                <a:solidFill>
                  <a:srgbClr val="222222"/>
                </a:solidFill>
              </a:defRPr>
            </a:pPr>
            <a:r>
              <a:t>• Share with a partner.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66666"/>
                </a:solidFill>
              </a:defRPr>
            </a:pPr>
            <a:r>
              <a:t>Unit 2.1: DNA to Proteins  |  2 of 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DNA is a double helix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600">
                <a:solidFill>
                  <a:srgbClr val="222222"/>
                </a:solidFill>
              </a:defRPr>
            </a:pPr>
            <a:r>
              <a:t>• Two strands twisted like a ladder.</a:t>
            </a:r>
          </a:p>
          <a:p>
            <a:pPr>
              <a:spcAft>
                <a:spcPts val="1000"/>
              </a:spcAft>
              <a:defRPr sz="2600">
                <a:solidFill>
                  <a:srgbClr val="222222"/>
                </a:solidFill>
              </a:defRPr>
            </a:pPr>
            <a:r>
              <a:t>• Built from nucleotides.</a:t>
            </a:r>
          </a:p>
          <a:p>
            <a:pPr>
              <a:spcAft>
                <a:spcPts val="1000"/>
              </a:spcAft>
              <a:defRPr sz="2600">
                <a:solidFill>
                  <a:srgbClr val="222222"/>
                </a:solidFill>
              </a:defRPr>
            </a:pPr>
            <a:r>
              <a:t>• Each nucleotide: a sugar, a phosphate, and a base.</a:t>
            </a:r>
          </a:p>
          <a:p>
            <a:pPr>
              <a:spcAft>
                <a:spcPts val="1000"/>
              </a:spcAft>
              <a:defRPr sz="2600">
                <a:solidFill>
                  <a:srgbClr val="222222"/>
                </a:solidFill>
              </a:defRPr>
            </a:pPr>
            <a:r>
              <a:t>• Sugars and phosphates make the sides (the backbone). Bases make the rungs.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66666"/>
                </a:solidFill>
              </a:defRPr>
            </a:pPr>
            <a:r>
              <a:t>Unit 2.1: DNA to Proteins  |  3 of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Base pairing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• Four bases: A, T, C, G.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• A pairs with T.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• C pairs with G.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• The order of the bases is the message.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3840480"/>
          <a:ext cx="1088136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6272"/>
                <a:gridCol w="2176272"/>
                <a:gridCol w="2176272"/>
                <a:gridCol w="2176272"/>
                <a:gridCol w="2176272"/>
              </a:tblGrid>
              <a:tr h="548640"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Strand 1</a:t>
                      </a:r>
                    </a:p>
                  </a:txBody>
                  <a:tcPr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A</a:t>
                      </a:r>
                    </a:p>
                  </a:txBody>
                  <a:tcPr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T</a:t>
                      </a:r>
                    </a:p>
                  </a:txBody>
                  <a:tcPr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G</a:t>
                      </a:r>
                    </a:p>
                  </a:txBody>
                  <a:tcPr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C</a:t>
                      </a:r>
                    </a:p>
                  </a:txBody>
                  <a:tcPr>
                    <a:solidFill>
                      <a:srgbClr val="2A9D8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222222"/>
                          </a:solidFill>
                        </a:defRPr>
                      </a:pPr>
                      <a:r>
                        <a:t>Partner</a:t>
                      </a:r>
                    </a:p>
                  </a:txBody>
                  <a:tcPr>
                    <a:solidFill>
                      <a:srgbClr val="EAF4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222222"/>
                          </a:solidFill>
                        </a:defRPr>
                      </a:pPr>
                      <a:r>
                        <a:t>T</a:t>
                      </a:r>
                    </a:p>
                  </a:txBody>
                  <a:tcPr>
                    <a:solidFill>
                      <a:srgbClr val="EAF4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222222"/>
                          </a:solidFill>
                        </a:defRPr>
                      </a:pPr>
                      <a:r>
                        <a:t>A</a:t>
                      </a:r>
                    </a:p>
                  </a:txBody>
                  <a:tcPr>
                    <a:solidFill>
                      <a:srgbClr val="EAF4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222222"/>
                          </a:solidFill>
                        </a:defRPr>
                      </a:pPr>
                      <a:r>
                        <a:t>C</a:t>
                      </a:r>
                    </a:p>
                  </a:txBody>
                  <a:tcPr>
                    <a:solidFill>
                      <a:srgbClr val="EAF4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222222"/>
                          </a:solidFill>
                        </a:defRPr>
                      </a:pPr>
                      <a:r>
                        <a:t>G</a:t>
                      </a:r>
                    </a:p>
                  </a:txBody>
                  <a:tcPr>
                    <a:solidFill>
                      <a:srgbClr val="EAF4F3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66666"/>
                </a:solidFill>
              </a:defRPr>
            </a:pPr>
            <a:r>
              <a:t>Unit 2.1: DNA to Proteins  |  4 of 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Your turn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600">
                <a:solidFill>
                  <a:srgbClr val="222222"/>
                </a:solidFill>
              </a:defRPr>
            </a:pPr>
            <a:r>
              <a:t>• Part A: draw and label one nucleotide (pentagon, circle, rectangle).</a:t>
            </a:r>
          </a:p>
          <a:p>
            <a:pPr>
              <a:spcAft>
                <a:spcPts val="1000"/>
              </a:spcAft>
              <a:defRPr sz="2600">
                <a:solidFill>
                  <a:srgbClr val="222222"/>
                </a:solidFill>
              </a:defRPr>
            </a:pPr>
            <a:r>
              <a:t>• Part B: write the partner strand for three sequences.</a:t>
            </a:r>
          </a:p>
          <a:p>
            <a:pPr>
              <a:spcAft>
                <a:spcPts val="1000"/>
              </a:spcAft>
              <a:defRPr sz="2600">
                <a:solidFill>
                  <a:srgbClr val="222222"/>
                </a:solidFill>
              </a:defRPr>
            </a:pPr>
            <a:r>
              <a:t>• Part C: answer the questions.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66666"/>
                </a:solidFill>
              </a:defRPr>
            </a:pPr>
            <a:r>
              <a:t>Unit 2.1: DNA to Proteins  |  5 of 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One letter apart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600">
                <a:solidFill>
                  <a:srgbClr val="222222"/>
                </a:solidFill>
              </a:defRPr>
            </a:pPr>
            <a:r>
              <a:t>• Solid cat:   A T G G G A C T G T T T</a:t>
            </a:r>
          </a:p>
          <a:p>
            <a:pPr>
              <a:spcAft>
                <a:spcPts val="1000"/>
              </a:spcAft>
              <a:defRPr sz="2600">
                <a:solidFill>
                  <a:srgbClr val="222222"/>
                </a:solidFill>
              </a:defRPr>
            </a:pPr>
            <a:r>
              <a:t>• Siamese cat: A T G A G A C T G T T T</a:t>
            </a:r>
          </a:p>
          <a:p>
            <a:pPr>
              <a:spcAft>
                <a:spcPts val="1000"/>
              </a:spcAft>
              <a:defRPr sz="2600">
                <a:solidFill>
                  <a:srgbClr val="222222"/>
                </a:solidFill>
              </a:defRPr>
            </a:pPr>
            <a:r>
              <a:t>• Illustration only (made-up letters). Where do they differ?</a:t>
            </a:r>
          </a:p>
          <a:p>
            <a:pPr>
              <a:spcAft>
                <a:spcPts val="1000"/>
              </a:spcAft>
              <a:defRPr sz="2600">
                <a:solidFill>
                  <a:srgbClr val="222222"/>
                </a:solidFill>
              </a:defRPr>
            </a:pPr>
            <a:r>
              <a:t>• Could one letter change which parts of a cat are dark? We find out on Days 3 and 4.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66666"/>
                </a:solidFill>
              </a:defRPr>
            </a:pPr>
            <a:r>
              <a:t>Unit 2.1: DNA to Proteins  |  6 of 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Exit ticket: CFA LS1-1.1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600">
                <a:solidFill>
                  <a:srgbClr val="222222"/>
                </a:solidFill>
              </a:defRPr>
            </a:pPr>
            <a:r>
              <a:t>• 6 minutes, on your own.</a:t>
            </a:r>
          </a:p>
          <a:p>
            <a:pPr>
              <a:spcAft>
                <a:spcPts val="1000"/>
              </a:spcAft>
              <a:defRPr sz="2600">
                <a:solidFill>
                  <a:srgbClr val="222222"/>
                </a:solidFill>
              </a:defRPr>
            </a:pPr>
            <a:r>
              <a:t>• Then finish the Day 2 assignment in Canvas.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66666"/>
                </a:solidFill>
              </a:defRPr>
            </a:pPr>
            <a:r>
              <a:t>Unit 2.1: DNA to Proteins  |  7 of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