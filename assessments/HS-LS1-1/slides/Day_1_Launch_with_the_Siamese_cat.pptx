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Day 1: The Siamese cat mystery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600">
                <a:solidFill>
                  <a:srgbClr val="222222"/>
                </a:solidFill>
              </a:defRPr>
            </a:pPr>
            <a:r>
              <a:t>• Unit 2.1: DNA to Proteins</a:t>
            </a:r>
          </a:p>
          <a:p>
            <a:pPr>
              <a:spcAft>
                <a:spcPts val="1000"/>
              </a:spcAft>
              <a:defRPr sz="2600">
                <a:solidFill>
                  <a:srgbClr val="222222"/>
                </a:solidFill>
              </a:defRPr>
            </a:pPr>
            <a:r>
              <a:t>• Today's target: DNA holds the instructions for building proteins (LS1-1.1)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94360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i="1">
                <a:solidFill>
                  <a:srgbClr val="1F3A5F"/>
                </a:solidFill>
              </a:defRPr>
            </a:pPr>
            <a:r>
              <a:t>Illustrations in this unit are simplified.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66666"/>
                </a:solidFill>
              </a:defRPr>
            </a:pPr>
            <a:r>
              <a:t>Unit 2.1: DNA to Proteins  |  1 of 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Notice and wonder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600">
                <a:solidFill>
                  <a:srgbClr val="222222"/>
                </a:solidFill>
              </a:defRPr>
            </a:pPr>
            <a:r>
              <a:t>• Look at the photos of an adult Siamese cat and a newborn Siamese kitten.</a:t>
            </a:r>
          </a:p>
          <a:p>
            <a:pPr>
              <a:spcAft>
                <a:spcPts val="1000"/>
              </a:spcAft>
              <a:defRPr sz="2600">
                <a:solidFill>
                  <a:srgbClr val="222222"/>
                </a:solidFill>
              </a:defRPr>
            </a:pPr>
            <a:r>
              <a:t>• Write 2 things you notice.</a:t>
            </a:r>
          </a:p>
          <a:p>
            <a:pPr>
              <a:spcAft>
                <a:spcPts val="1000"/>
              </a:spcAft>
              <a:defRPr sz="2600">
                <a:solidFill>
                  <a:srgbClr val="222222"/>
                </a:solidFill>
              </a:defRPr>
            </a:pPr>
            <a:r>
              <a:t>• Write 2 things you wonder.</a:t>
            </a:r>
          </a:p>
          <a:p>
            <a:pPr>
              <a:spcAft>
                <a:spcPts val="1000"/>
              </a:spcAft>
              <a:defRPr sz="2600">
                <a:solidFill>
                  <a:srgbClr val="222222"/>
                </a:solidFill>
              </a:defRPr>
            </a:pPr>
            <a:r>
              <a:t>• Where is the cat dark? Where is it cream? What about the kitten?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66666"/>
                </a:solidFill>
              </a:defRPr>
            </a:pPr>
            <a:r>
              <a:t>Unit 2.1: DNA to Proteins  |  2 of 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Data 1: Temperature and fur color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371600"/>
          <a:ext cx="10881360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27120"/>
                <a:gridCol w="3627120"/>
                <a:gridCol w="3627120"/>
              </a:tblGrid>
              <a:tr h="384048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Body part</a:t>
                      </a:r>
                    </a:p>
                  </a:txBody>
                  <a:tcPr>
                    <a:solidFill>
                      <a:srgbClr val="2A9D8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Skin temp (°C)</a:t>
                      </a:r>
                    </a:p>
                  </a:txBody>
                  <a:tcPr>
                    <a:solidFill>
                      <a:srgbClr val="2A9D8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Fur color</a:t>
                      </a:r>
                    </a:p>
                  </a:txBody>
                  <a:tcPr>
                    <a:solidFill>
                      <a:srgbClr val="2A9D8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222222"/>
                          </a:solidFill>
                        </a:defRPr>
                      </a:pPr>
                      <a:r>
                        <a:t>Back</a:t>
                      </a:r>
                    </a:p>
                  </a:txBody>
                  <a:tcPr>
                    <a:solidFill>
                      <a:srgbClr val="EAF4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222222"/>
                          </a:solidFill>
                        </a:defRPr>
                      </a:pPr>
                      <a:r>
                        <a:t>36</a:t>
                      </a:r>
                    </a:p>
                  </a:txBody>
                  <a:tcPr>
                    <a:solidFill>
                      <a:srgbClr val="EAF4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222222"/>
                          </a:solidFill>
                        </a:defRPr>
                      </a:pPr>
                      <a:r>
                        <a:t>Cream</a:t>
                      </a:r>
                    </a:p>
                  </a:txBody>
                  <a:tcPr>
                    <a:solidFill>
                      <a:srgbClr val="EAF4F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222222"/>
                          </a:solidFill>
                        </a:defRPr>
                      </a:pPr>
                      <a:r>
                        <a:t>Belly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222222"/>
                          </a:solidFill>
                        </a:defRPr>
                      </a:pPr>
                      <a:r>
                        <a:t>36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222222"/>
                          </a:solidFill>
                        </a:defRPr>
                      </a:pPr>
                      <a:r>
                        <a:t>Cream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222222"/>
                          </a:solidFill>
                        </a:defRPr>
                      </a:pPr>
                      <a:r>
                        <a:t>Upper leg</a:t>
                      </a:r>
                    </a:p>
                  </a:txBody>
                  <a:tcPr>
                    <a:solidFill>
                      <a:srgbClr val="EAF4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222222"/>
                          </a:solidFill>
                        </a:defRPr>
                      </a:pPr>
                      <a:r>
                        <a:t>34</a:t>
                      </a:r>
                    </a:p>
                  </a:txBody>
                  <a:tcPr>
                    <a:solidFill>
                      <a:srgbClr val="EAF4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222222"/>
                          </a:solidFill>
                        </a:defRPr>
                      </a:pPr>
                      <a:r>
                        <a:t>Cream</a:t>
                      </a:r>
                    </a:p>
                  </a:txBody>
                  <a:tcPr>
                    <a:solidFill>
                      <a:srgbClr val="EAF4F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222222"/>
                          </a:solidFill>
                        </a:defRPr>
                      </a:pPr>
                      <a:r>
                        <a:t>Ear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222222"/>
                          </a:solidFill>
                        </a:defRPr>
                      </a:pPr>
                      <a:r>
                        <a:t>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222222"/>
                          </a:solidFill>
                        </a:defRPr>
                      </a:pPr>
                      <a:r>
                        <a:t>Dark brown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222222"/>
                          </a:solidFill>
                        </a:defRPr>
                      </a:pPr>
                      <a:r>
                        <a:t>Nose / face</a:t>
                      </a:r>
                    </a:p>
                  </a:txBody>
                  <a:tcPr>
                    <a:solidFill>
                      <a:srgbClr val="EAF4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222222"/>
                          </a:solidFill>
                        </a:defRPr>
                      </a:pPr>
                      <a:r>
                        <a:t>30</a:t>
                      </a:r>
                    </a:p>
                  </a:txBody>
                  <a:tcPr>
                    <a:solidFill>
                      <a:srgbClr val="EAF4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222222"/>
                          </a:solidFill>
                        </a:defRPr>
                      </a:pPr>
                      <a:r>
                        <a:t>Dark brown</a:t>
                      </a:r>
                    </a:p>
                  </a:txBody>
                  <a:tcPr>
                    <a:solidFill>
                      <a:srgbClr val="EAF4F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222222"/>
                          </a:solidFill>
                        </a:defRPr>
                      </a:pPr>
                      <a:r>
                        <a:t>Paw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222222"/>
                          </a:solidFill>
                        </a:defRPr>
                      </a:pPr>
                      <a:r>
                        <a:t>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222222"/>
                          </a:solidFill>
                        </a:defRPr>
                      </a:pPr>
                      <a:r>
                        <a:t>Dark brown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222222"/>
                          </a:solidFill>
                        </a:defRPr>
                      </a:pPr>
                      <a:r>
                        <a:t>Tail tip</a:t>
                      </a:r>
                    </a:p>
                  </a:txBody>
                  <a:tcPr>
                    <a:solidFill>
                      <a:srgbClr val="EAF4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222222"/>
                          </a:solidFill>
                        </a:defRPr>
                      </a:pPr>
                      <a:r>
                        <a:t>27</a:t>
                      </a:r>
                    </a:p>
                  </a:txBody>
                  <a:tcPr>
                    <a:solidFill>
                      <a:srgbClr val="EAF4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222222"/>
                          </a:solidFill>
                        </a:defRPr>
                      </a:pPr>
                      <a:r>
                        <a:t>Dark brown</a:t>
                      </a:r>
                    </a:p>
                  </a:txBody>
                  <a:tcPr>
                    <a:solidFill>
                      <a:srgbClr val="EAF4F3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4581144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i="1">
                <a:solidFill>
                  <a:srgbClr val="1F3A5F"/>
                </a:solidFill>
              </a:defRPr>
            </a:pPr>
            <a:r>
              <a:t>Simplified class data. What pattern do you see? (Question 1)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66666"/>
                </a:solidFill>
              </a:defRPr>
            </a:pPr>
            <a:r>
              <a:t>Unit 2.1: DNA to Proteins  |  3 of 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Think about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600">
                <a:solidFill>
                  <a:srgbClr val="222222"/>
                </a:solidFill>
              </a:defRPr>
            </a:pPr>
            <a:r>
              <a:t>• A kitten is born almost white. The dark parts show up in the first weeks.</a:t>
            </a:r>
          </a:p>
          <a:p>
            <a:pPr>
              <a:spcAft>
                <a:spcPts val="1000"/>
              </a:spcAft>
              <a:defRPr sz="2600">
                <a:solidFill>
                  <a:srgbClr val="222222"/>
                </a:solidFill>
              </a:defRPr>
            </a:pPr>
            <a:r>
              <a:t>• Use the temperature data to suggest why (Question 2).</a:t>
            </a:r>
          </a:p>
          <a:p>
            <a:pPr>
              <a:spcAft>
                <a:spcPts val="1000"/>
              </a:spcAft>
              <a:defRPr sz="2600">
                <a:solidFill>
                  <a:srgbClr val="222222"/>
                </a:solidFill>
              </a:defRPr>
            </a:pPr>
            <a:r>
              <a:t>• A newborn is warm all over before birth.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66666"/>
                </a:solidFill>
              </a:defRPr>
            </a:pPr>
            <a:r>
              <a:t>Unit 2.1: DNA to Proteins  |  4 of 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Data 2: Litters of kittens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371600"/>
          <a:ext cx="10881360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76272"/>
                <a:gridCol w="2176272"/>
                <a:gridCol w="2176272"/>
                <a:gridCol w="2176272"/>
                <a:gridCol w="2176272"/>
              </a:tblGrid>
              <a:tr h="384048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Litter</a:t>
                      </a:r>
                    </a:p>
                  </a:txBody>
                  <a:tcPr>
                    <a:solidFill>
                      <a:srgbClr val="2A9D8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Mother</a:t>
                      </a:r>
                    </a:p>
                  </a:txBody>
                  <a:tcPr>
                    <a:solidFill>
                      <a:srgbClr val="2A9D8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Father</a:t>
                      </a:r>
                    </a:p>
                  </a:txBody>
                  <a:tcPr>
                    <a:solidFill>
                      <a:srgbClr val="2A9D8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Siamese-pattern kittens</a:t>
                      </a:r>
                    </a:p>
                  </a:txBody>
                  <a:tcPr>
                    <a:solidFill>
                      <a:srgbClr val="2A9D8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Solid kittens</a:t>
                      </a:r>
                    </a:p>
                  </a:txBody>
                  <a:tcPr>
                    <a:solidFill>
                      <a:srgbClr val="2A9D8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222222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AF4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222222"/>
                          </a:solidFill>
                        </a:defRPr>
                      </a:pPr>
                      <a:r>
                        <a:t>Siamese</a:t>
                      </a:r>
                    </a:p>
                  </a:txBody>
                  <a:tcPr>
                    <a:solidFill>
                      <a:srgbClr val="EAF4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222222"/>
                          </a:solidFill>
                        </a:defRPr>
                      </a:pPr>
                      <a:r>
                        <a:t>Siamese</a:t>
                      </a:r>
                    </a:p>
                  </a:txBody>
                  <a:tcPr>
                    <a:solidFill>
                      <a:srgbClr val="EAF4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222222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EAF4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222222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AF4F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222222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222222"/>
                          </a:solidFill>
                        </a:defRPr>
                      </a:pPr>
                      <a:r>
                        <a:t>Siamese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222222"/>
                          </a:solidFill>
                        </a:defRPr>
                      </a:pPr>
                      <a:r>
                        <a:t>Siamese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222222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222222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222222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EAF4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222222"/>
                          </a:solidFill>
                        </a:defRPr>
                      </a:pPr>
                      <a:r>
                        <a:t>Siamese</a:t>
                      </a:r>
                    </a:p>
                  </a:txBody>
                  <a:tcPr>
                    <a:solidFill>
                      <a:srgbClr val="EAF4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222222"/>
                          </a:solidFill>
                        </a:defRPr>
                      </a:pPr>
                      <a:r>
                        <a:t>Solid</a:t>
                      </a:r>
                    </a:p>
                  </a:txBody>
                  <a:tcPr>
                    <a:solidFill>
                      <a:srgbClr val="EAF4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222222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AF4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222222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EAF4F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222222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222222"/>
                          </a:solidFill>
                        </a:defRPr>
                      </a:pPr>
                      <a:r>
                        <a:t>Solid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222222"/>
                          </a:solidFill>
                        </a:defRPr>
                      </a:pPr>
                      <a:r>
                        <a:t>Solid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222222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222222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222222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EAF4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222222"/>
                          </a:solidFill>
                        </a:defRPr>
                      </a:pPr>
                      <a:r>
                        <a:t>Solid</a:t>
                      </a:r>
                    </a:p>
                  </a:txBody>
                  <a:tcPr>
                    <a:solidFill>
                      <a:srgbClr val="EAF4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222222"/>
                          </a:solidFill>
                        </a:defRPr>
                      </a:pPr>
                      <a:r>
                        <a:t>Solid</a:t>
                      </a:r>
                    </a:p>
                  </a:txBody>
                  <a:tcPr>
                    <a:solidFill>
                      <a:srgbClr val="EAF4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222222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EAF4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222222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EAF4F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222222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222222"/>
                          </a:solidFill>
                        </a:defRPr>
                      </a:pPr>
                      <a:r>
                        <a:t>Siamese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222222"/>
                          </a:solidFill>
                        </a:defRPr>
                      </a:pPr>
                      <a:r>
                        <a:t>Solid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222222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222222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222222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EAF4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222222"/>
                          </a:solidFill>
                        </a:defRPr>
                      </a:pPr>
                      <a:r>
                        <a:t>Solid</a:t>
                      </a:r>
                    </a:p>
                  </a:txBody>
                  <a:tcPr>
                    <a:solidFill>
                      <a:srgbClr val="EAF4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222222"/>
                          </a:solidFill>
                        </a:defRPr>
                      </a:pPr>
                      <a:r>
                        <a:t>Solid</a:t>
                      </a:r>
                    </a:p>
                  </a:txBody>
                  <a:tcPr>
                    <a:solidFill>
                      <a:srgbClr val="EAF4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222222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AF4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222222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EAF4F3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4581144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i="1">
                <a:solidFill>
                  <a:srgbClr val="1F3A5F"/>
                </a:solidFill>
              </a:defRPr>
            </a:pPr>
            <a:r>
              <a:t>Simplified class data. Describe each type of pair (Questions 3 and 4).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66666"/>
                </a:solidFill>
              </a:defRPr>
            </a:pPr>
            <a:r>
              <a:t>Unit 2.1: DNA to Proteins  |  5 of 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Key ideas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600">
                <a:solidFill>
                  <a:srgbClr val="222222"/>
                </a:solidFill>
              </a:defRPr>
            </a:pPr>
            <a:r>
              <a:t>• DNA in every cell stores instructions.</a:t>
            </a:r>
          </a:p>
          <a:p>
            <a:pPr>
              <a:spcAft>
                <a:spcPts val="1000"/>
              </a:spcAft>
              <a:defRPr sz="2600">
                <a:solidFill>
                  <a:srgbClr val="222222"/>
                </a:solidFill>
              </a:defRPr>
            </a:pPr>
            <a:r>
              <a:t>• A gene is a section of DNA with the instructions for one protein.</a:t>
            </a:r>
          </a:p>
          <a:p>
            <a:pPr>
              <a:spcAft>
                <a:spcPts val="1000"/>
              </a:spcAft>
              <a:defRPr sz="2600">
                <a:solidFill>
                  <a:srgbClr val="222222"/>
                </a:solidFill>
              </a:defRPr>
            </a:pPr>
            <a:r>
              <a:t>• Proteins do jobs for the cell.</a:t>
            </a:r>
          </a:p>
          <a:p>
            <a:pPr>
              <a:spcAft>
                <a:spcPts val="1000"/>
              </a:spcAft>
              <a:defRPr sz="2600">
                <a:solidFill>
                  <a:srgbClr val="222222"/>
                </a:solidFill>
              </a:defRPr>
            </a:pPr>
            <a:r>
              <a:t>• A kitten gets one set of chromosomes (long DNA molecules with many genes) from each parent.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66666"/>
                </a:solidFill>
              </a:defRPr>
            </a:pPr>
            <a:r>
              <a:t>Unit 2.1: DNA to Proteins  |  6 of 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Big question for the unit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600">
                <a:solidFill>
                  <a:srgbClr val="222222"/>
                </a:solidFill>
              </a:defRPr>
            </a:pPr>
            <a:r>
              <a:t>• How can a difference in DNA change which parts of a cat are dark?</a:t>
            </a:r>
          </a:p>
          <a:p>
            <a:pPr>
              <a:spcAft>
                <a:spcPts val="1000"/>
              </a:spcAft>
              <a:defRPr sz="2600">
                <a:solidFill>
                  <a:srgbClr val="222222"/>
                </a:solidFill>
              </a:defRPr>
            </a:pPr>
            <a:r>
              <a:t>• Draw your initial model (Question 8): what is inside the cat's cells that leads to dark ears, paws, and tail?</a:t>
            </a:r>
          </a:p>
          <a:p>
            <a:pPr>
              <a:spcAft>
                <a:spcPts val="1000"/>
              </a:spcAft>
              <a:defRPr sz="2600">
                <a:solidFill>
                  <a:srgbClr val="222222"/>
                </a:solidFill>
              </a:defRPr>
            </a:pPr>
            <a:r>
              <a:t>• We will revise it on Day 7.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66666"/>
                </a:solidFill>
              </a:defRPr>
            </a:pPr>
            <a:r>
              <a:t>Unit 2.1: DNA to Proteins  |  7 of 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Before you leave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600">
                <a:solidFill>
                  <a:srgbClr val="222222"/>
                </a:solidFill>
              </a:defRPr>
            </a:pPr>
            <a:r>
              <a:t>• Write one thing you learned today and one question you still have.</a:t>
            </a:r>
          </a:p>
          <a:p>
            <a:pPr>
              <a:spcAft>
                <a:spcPts val="1000"/>
              </a:spcAft>
              <a:defRPr sz="2600">
                <a:solidFill>
                  <a:srgbClr val="222222"/>
                </a:solidFill>
              </a:defRPr>
            </a:pPr>
            <a:r>
              <a:t>• Then finish the Day 1 assignment in Canvas.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66666"/>
                </a:solidFill>
              </a:defRPr>
            </a:pPr>
            <a:r>
              <a:t>Unit 2.1: DNA to Proteins  |  8 of 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